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tesi: la v2 tiene solo le due decisioni affidate all'LLM e sposta i vincoli nel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Sottolineare la separazione tra decisione (LLM) ed esecuzione vincolata (tool + policy). Il prompt finale è specifico per tool e chiede un blocco &lt;risposta&gt;: il codice estrae solo quel blocco, così il ragionamento del modello non arriva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è una critica alla versione estesa: è una scelta proporzionata al modello locale e alla leggibilità.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secondo passo LLM non ha tool: scrive solo la risposta. Dopo proponi_rimborso il turno è chiuso.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punto centrale: l'AI è responsabile delle decisioni, il codice garantisce che non possa violare i vincoli.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tool leggono i dati dal runtime: il modello non può indicare un cliente diverso da quello della sessione.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HITL dentro proponi_rimborso tramite interrupt(): nessun nodo separato, nessuna scrittura prima dell'ok.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 è proporzionato a dieci documenti brevi. La memoria lunga non salva nulla senza richiesta esplicita.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 da eval/results/latest.json e dalla run Llama completa. Gemini non ha una run comparabile per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reasoning resta utile per scegliere il tool; la risposta finale lo disattiva per evitare l'esaurimento del contesto. Disattivarlo su tutto il grafo peggiora i risultati.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test usano un modello scriptato e non richiedono LM Studio. La run reale richiede il modello caricato.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sul confine tra AI e codice: è il contributo principale della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822960" cy="54864"/>
          </a:xfrm>
          <a:prstGeom prst="rect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89B5A"/>
                </a:solidFill>
                <a:latin typeface="Calibri"/>
              </a:rPr>
              <a:t>PROGETTO FINALE · LLM &amp;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AF7F2"/>
                </a:solidFill>
                <a:latin typeface="Calibri"/>
              </a:rPr>
              <a:t>Casa &amp; Regali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C89B5A"/>
                </a:solidFill>
                <a:latin typeface="Calibri"/>
              </a:rPr>
              <a:t>Assistente clienti in italiano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FAF7F2"/>
                </a:solidFill>
                <a:latin typeface="Calibri"/>
              </a:rPr>
              <a:t>L'LLM sceglie il tool e scrive la risposta.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FAF7F2"/>
                </a:solidFill>
                <a:latin typeface="Calibri"/>
              </a:rPr>
              <a:t>Il codice impone policy, privacy, HITL e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00600"/>
            <a:ext cx="1330452" cy="402336"/>
          </a:xfrm>
          <a:prstGeom prst="roundRect">
            <a:avLst>
              <a:gd name="adj" fmla="val 8000"/>
            </a:avLst>
          </a:prstGeom>
          <a:solidFill>
            <a:srgbClr val="5A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837176"/>
            <a:ext cx="11841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AF7F2"/>
                </a:solidFill>
                <a:latin typeface="Calibri"/>
              </a:rPr>
              <a:t>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0844" y="4800600"/>
            <a:ext cx="1330452" cy="402336"/>
          </a:xfrm>
          <a:prstGeom prst="roundRect">
            <a:avLst>
              <a:gd name="adj" fmla="val 8000"/>
            </a:avLst>
          </a:prstGeom>
          <a:solidFill>
            <a:srgbClr val="5A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3996" y="4837176"/>
            <a:ext cx="11841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AF7F2"/>
                </a:solidFill>
                <a:latin typeface="Calibri"/>
              </a:rPr>
              <a:t>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4800600"/>
            <a:ext cx="804672" cy="402336"/>
          </a:xfrm>
          <a:prstGeom prst="roundRect">
            <a:avLst>
              <a:gd name="adj" fmla="val 8000"/>
            </a:avLst>
          </a:prstGeom>
          <a:solidFill>
            <a:srgbClr val="5A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483717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AF7F2"/>
                </a:solidFill>
                <a:latin typeface="Calibri"/>
              </a:rPr>
              <a:t>BM25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4800600"/>
            <a:ext cx="804672" cy="402336"/>
          </a:xfrm>
          <a:prstGeom prst="roundRect">
            <a:avLst>
              <a:gd name="adj" fmla="val 8000"/>
            </a:avLst>
          </a:prstGeom>
          <a:solidFill>
            <a:srgbClr val="5A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483717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AF7F2"/>
                </a:solidFill>
                <a:latin typeface="Calibri"/>
              </a:rPr>
              <a:t>HITL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14416" y="4800600"/>
            <a:ext cx="1330452" cy="402336"/>
          </a:xfrm>
          <a:prstGeom prst="roundRect">
            <a:avLst>
              <a:gd name="adj" fmla="val 8000"/>
            </a:avLst>
          </a:prstGeom>
          <a:solidFill>
            <a:srgbClr val="5A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4837176"/>
            <a:ext cx="11841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AF7F2"/>
                </a:solidFill>
                <a:latin typeface="Calibri"/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8CBBC"/>
                </a:solidFill>
                <a:latin typeface="Calibri"/>
              </a:rPr>
              <a:t>LFM3-1.7B Q4_K_M · LM Studio · 29 ottobre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LA TESI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In una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Tre passaggi, un solo agente, nessun fallback deterministico.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89B5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L'LLM sceglie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Riceve la richiesta e la conversazione, e seleziona uno dei sette tool con i suoi argomenti. Se non serve un tool, risponde direttamente.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3852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89B5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420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Il tool esegue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6324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Legge i dati del cliente dal runtime e applica la policy: finestra resi, categorie escluse, soglie, privacy. Il modello non può cambiare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3852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89B5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420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L'LLM racconta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063240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Un secondo passo, senza tool, riceve gli esiti e scrive la risposta finale. Non può avviare altre azioni.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3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9320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Il rimborso è solo una proposta: interrupt, approvazione umana, poi ledger idempotente e audit JSONL.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LA REVISIONE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Da estesa a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Meno pattern, stessi vincoli di dominio.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709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4709160" cy="64008"/>
          </a:xfrm>
          <a:prstGeom prst="rect">
            <a:avLst/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Versione estesa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427024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Supervisore + 3 agenti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Ciclo ReAct con più passaggi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Review / reflection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Chroma + embedding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Backend deterministico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HITL come nodo separato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600200"/>
            <a:ext cx="4709160" cy="274320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1600200"/>
            <a:ext cx="4709160" cy="64008"/>
          </a:xfrm>
          <a:prstGeom prst="rect">
            <a:avLst/>
          </a:prstGeom>
          <a:solidFill>
            <a:srgbClr val="4F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04888" y="180136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Versione 2 (v2)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176" y="2313432"/>
            <a:ext cx="427024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1 agente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Un solo passaggio di tool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Nessuna reflection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BM25 su 10 documenti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Nessun fallback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252525"/>
                </a:solidFill>
                <a:latin typeface="Calibri"/>
              </a:rPr>
              <a:t>HITL dentro proponi_rimborso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13248" y="2743200"/>
            <a:ext cx="1325880" cy="457200"/>
          </a:xfrm>
          <a:prstGeom prst="rightArrow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B5B5B"/>
                </a:solidFill>
                <a:latin typeface="Calibri"/>
              </a:rPr>
              <a:t>La versione estesa dimostra più pattern, ma con un modello da 1,7B il routing e la reflection aggiungono latenza e punti di errore. La revisione toglie ciò che non ripaga e conserva policy, privacy, HITL, audit e ledger.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ARCHITETTURA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Quattro nodi, un solo passaggio di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agent → tools → respond → finalize; senza tool: agent → finalize.</a:t>
            </a:r>
          </a:p>
        </p:txBody>
      </p:sp>
      <p:pic>
        <p:nvPicPr>
          <p:cNvPr id="6" name="Picture 5" descr="architet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62" y="1572768"/>
            <a:ext cx="6863627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48640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F3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22976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2C20"/>
                </a:solidFill>
                <a:latin typeface="Calibri"/>
              </a:rPr>
              <a:t>agent → tools → respond → finalize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5486400"/>
            <a:ext cx="3108960" cy="45720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5522976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4F6B4D"/>
                </a:solidFill>
                <a:latin typeface="Calibri"/>
              </a:rPr>
              <a:t>agent → finalize (senza tool)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548640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5522976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A4B3F"/>
                </a:solidFill>
                <a:latin typeface="Calibri"/>
              </a:rPr>
              <a:t>dopo il rimborso: nessun altro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CONFINE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Cosa fa l'LLM, cosa fa il codice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Due decisioni al modello, tutti i vincoli al codice.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349240" cy="64008"/>
          </a:xfrm>
          <a:prstGeom prst="rect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4946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4910327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Sceglie il tool e i suoi argomenti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Scrive la risposta in linguaggio naturale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Può sbagliare: l'errore resta visibile nella valutazione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Non può cambiare cliente, importo o esito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0020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600200"/>
            <a:ext cx="5349240" cy="64008"/>
          </a:xfrm>
          <a:prstGeom prst="rect">
            <a:avLst/>
          </a:prstGeom>
          <a:solidFill>
            <a:srgbClr val="4F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01368"/>
            <a:ext cx="4946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Codice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13432"/>
            <a:ext cx="4910327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policy.py applica finestra resi, esclusioni e soglie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ToolRuntime impone il cliente della sessione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interrupt() sospende il rimborso per l'approvazione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252525"/>
                </a:solidFill>
                <a:latin typeface="Calibri"/>
              </a:rPr>
              <a:t>audit.py scrive solo dopo approvazione e registra ogni turno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3D2C20"/>
                </a:solidFill>
                <a:latin typeface="Calibri"/>
              </a:rPr>
              <a:t>Nessuna modalità deterministica, nessun fallback semantico: se il modello sbaglia, lo si vede.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STRUMENTI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Sette tool, quattro read-only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Solo proponi_rimborso scrive un rimborso, e solo dopo l'approvazione umana.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6035040"/>
                <a:gridCol w="181051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36576" marB="36576" anchor="ctr">
                    <a:solidFill>
                      <a:srgbClr val="6B44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Cosa fa</a:t>
                      </a:r>
                    </a:p>
                  </a:txBody>
                  <a:tcPr marL="73152" marR="73152" marT="36576" marB="36576" anchor="ctr">
                    <a:solidFill>
                      <a:srgbClr val="6B44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Scrittura</a:t>
                      </a:r>
                    </a:p>
                  </a:txBody>
                  <a:tcPr marL="73152" marR="73152" marT="36576" marB="36576" anchor="ctr">
                    <a:solidFill>
                      <a:srgbClr val="6B44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cerca_policy(query)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Cerca nelle policy e restituisce contesto e fonti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stato_ordine(order_id)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Stato, articoli e tracking di un ordine del cliente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elenca_ordini()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Elenco degli ordini del profilo della sessione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verifica_reso(order_id)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Idoneità al reso, giorni trascorsi, esclusioni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proponi_rimborso(order_id)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Verifica, chiede HITL, scrive solo se approvato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dopo HITL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apri_ticket(motivo)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Apre un ticket per un operatore umano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73152" marR="73152" marT="36576" marB="36576" anchor="ctr">
                    <a:solidFill>
                      <a:srgbClr val="F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ricorda_preferenza(testo)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Salva una preferenza su richiesta esplicita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52525"/>
                          </a:solidFill>
                          <a:latin typeface="Calibri"/>
                        </a:rPr>
                        <a:t>preferenza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5B5B5B"/>
                </a:solidFill>
                <a:latin typeface="Calibri"/>
              </a:rPr>
              <a:t>Tutti restituiscono testo leggibile, tranne cerca_policy che restituisce JSON con contesto e fonti.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RIMBORSO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Human-in-the-Loop dentro il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La proposta è visibile, l'esecuzione no: il ledger scrive solo dopo l'ok 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1. Verifica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5B5B"/>
                </a:solidFill>
                <a:latin typeface="Calibri"/>
              </a:rPr>
              <a:t>idoneità, finestra, esclusioni, duplicati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377440"/>
            <a:ext cx="182880" cy="201168"/>
          </a:xfrm>
          <a:prstGeom prst="rightArrow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6352" y="17830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2. 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26771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5B5B"/>
                </a:solidFill>
                <a:latin typeface="Calibri"/>
              </a:rPr>
              <a:t>ordine, cliente, importo, livello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55464" y="2377440"/>
            <a:ext cx="182880" cy="201168"/>
          </a:xfrm>
          <a:prstGeom prst="rightArrow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17830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6E7E4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3. Interrupt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26771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5B5B"/>
                </a:solidFill>
                <a:latin typeface="Calibri"/>
              </a:rPr>
              <a:t>il turno si sospende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2377440"/>
            <a:ext cx="182880" cy="201168"/>
          </a:xfrm>
          <a:prstGeom prst="rightArrow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7830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4. Decisione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26771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5B5B"/>
                </a:solidFill>
                <a:latin typeface="Calibri"/>
              </a:rPr>
              <a:t>approva o rifiuta in UI o CLI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54312" y="2377440"/>
            <a:ext cx="182880" cy="201168"/>
          </a:xfrm>
          <a:prstGeom prst="rightArrow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64624" y="17830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3D2C20"/>
                </a:solidFill>
                <a:latin typeface="Calibri"/>
              </a:rPr>
              <a:t>5.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26771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5B5B"/>
                </a:solidFill>
                <a:latin typeface="Calibri"/>
              </a:rPr>
              <a:t>rivalida e scrive solo se approvato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1188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11880"/>
            <a:ext cx="5349240" cy="64008"/>
          </a:xfrm>
          <a:prstGeom prst="rect">
            <a:avLst/>
          </a:prstGeom>
          <a:solidFill>
            <a:srgbClr val="8A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813048"/>
            <a:ext cx="4946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Il ledger non si fida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325112"/>
            <a:ext cx="49469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Un importo manomesso, un'approvazione mancante o un rimborso già registrato vengono rifiutati. Il chiamante non può forzare la scrittura.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61188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3611880"/>
            <a:ext cx="5349240" cy="64008"/>
          </a:xfrm>
          <a:prstGeom prst="rect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813048"/>
            <a:ext cx="4946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Soglia 500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25112"/>
            <a:ext cx="49469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Sopra i 500 EUR la proposta richiede il livello responsabile: la UI mostra una conferma aggiuntiva, la CLI la chiede esplicitamente.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091672" cy="621792"/>
          </a:xfrm>
          <a:prstGeom prst="roundRect">
            <a:avLst>
              <a:gd name="adj" fmla="val 8000"/>
            </a:avLst>
          </a:prstGeom>
          <a:solidFill>
            <a:srgbClr val="F3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7725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3D2C20"/>
                </a:solidFill>
                <a:latin typeface="Calibri"/>
              </a:rPr>
              <a:t>Senza approved=True non esiste alcun rimborso: il ledger rivalida cliente, importo e duplicati.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DATI E CONTESTO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Dati, RAG e memoria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Un corpus piccolo, un indice lessicale, una memoria esplicita.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20440" cy="64008"/>
          </a:xfrm>
          <a:prstGeom prst="rect">
            <a:avLst/>
          </a:prstGeom>
          <a:solidFill>
            <a:srgbClr val="6B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Dati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20 prodotti, 50 clienti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200 ordini, 4 rimborsi iniziali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Casi curati: ORD-1001…1008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Nessun dato personale reale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DEMO_TODAY = 2026-10-23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600200"/>
            <a:ext cx="3520440" cy="64008"/>
          </a:xfrm>
          <a:prstGeom prst="rect">
            <a:avLst/>
          </a:prstGeom>
          <a:solidFill>
            <a:srgbClr val="4F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RAG 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10 documenti Markdown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chunk_size = 650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top_k = 3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Niente embedding o Chroma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Query + ultima richiesta del cliente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3520440" cy="64008"/>
          </a:xfrm>
          <a:prstGeom prst="rect">
            <a:avLst/>
          </a:prstGeom>
          <a:solidFill>
            <a:srgbClr val="C89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Memoria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Breve: InMemorySaver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Lunga: PreferenceMemory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Solo preferenze richieste esplicitamente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Email, telefoni e carte rimossi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Stato di sessione perso al riavvio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91672" cy="640080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2861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D2C20"/>
                </a:solidFill>
                <a:latin typeface="Calibri"/>
              </a:rPr>
              <a:t>La query del modello viene unita all'ultima richiesta: i termini specifici del cliente non si perdono.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VALUTAZIONE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31 scenari, due profili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Tool, contenuti, fonti, HITL, scritture ed effetti collaterali.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45336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B4429"/>
                </a:solidFill>
                <a:latin typeface="Calibri"/>
              </a:rPr>
              <a:t>31/31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4767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B5B"/>
                </a:solidFill>
                <a:latin typeface="Calibri"/>
              </a:rPr>
              <a:t>LFM3 superati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481328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545336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B4429"/>
                </a:solidFill>
                <a:latin typeface="Calibri"/>
              </a:rPr>
              <a:t>100,0%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94767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B5B"/>
                </a:solidFill>
                <a:latin typeface="Calibri"/>
              </a:rPr>
              <a:t>tool hit LFM3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81328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45336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B4429"/>
                </a:solidFill>
                <a:latin typeface="Calibri"/>
              </a:rPr>
              <a:t>24/31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4767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B5B"/>
                </a:solidFill>
                <a:latin typeface="Calibri"/>
              </a:rPr>
              <a:t>Llama superati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1481328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545336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B4429"/>
                </a:solidFill>
                <a:latin typeface="Calibri"/>
              </a:rPr>
              <a:t>1,93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1947672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B5B"/>
                </a:solidFill>
                <a:latin typeface="Calibri"/>
              </a:rPr>
              <a:t>latenza Llama</a:t>
            </a:r>
          </a:p>
        </p:txBody>
      </p:sp>
      <p:pic>
        <p:nvPicPr>
          <p:cNvPr id="18" name="Picture 17" descr="valutazio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94" y="2487168"/>
            <a:ext cx="10295130" cy="251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13892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LFM3: 3,72 s per turno, 100% su tool, fonti, HITL e sicurezza. Llama: 1,93 s ma 66,7% di sicurezza e 88,9% sulle fonti.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5B5B"/>
                </a:solidFill>
                <a:latin typeface="Calibri"/>
              </a:rPr>
              <a:t>31 scenari: 9 info, 3 ordini, 6 resi, 6 rimborsi, 3 sicurezza, 2 escalation, 2 memoria.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ANALISI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Dove si concentrano gli errori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Llama è veloce ma perde resi, memoria e fonti.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20440" cy="64008"/>
          </a:xfrm>
          <a:prstGeom prst="rect">
            <a:avLst/>
          </a:prstGeom>
          <a:solidFill>
            <a:srgbClr val="8A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Llama 3.2 3B (Unsloth)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Informazioni 8/9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Resi 3/6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Privacy/sicurezza 2/3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Memoria 0/2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Totale 24/31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600200"/>
            <a:ext cx="3520440" cy="64008"/>
          </a:xfrm>
          <a:prstGeom prst="rect">
            <a:avLst/>
          </a:prstGeom>
          <a:solidFill>
            <a:srgbClr val="4F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Reasoning LFM3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Tool: reasoning default, 31/31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Risposta finale: reasoning off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Prima: 7.058 token, output vuoto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none su tutto il grafo: 27/31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520440" cy="288036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3520440" cy="64008"/>
          </a:xfrm>
          <a:prstGeom prst="rect">
            <a:avLst/>
          </a:prstGeom>
          <a:solidFill>
            <a:srgbClr val="4D5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Gemini 2.5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13432"/>
            <a:ext cx="308152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Backend configurabile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Quota gratuita giornaliera esaurita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Nessuna run completa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Nessuna metrica comparabile inventata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F3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3D2C20"/>
                </a:solidFill>
                <a:latin typeface="Calibri"/>
              </a:rPr>
              <a:t>La valutazione misura gli errori, non li nasconde: è il motivo per cui il fallback deterministico è stato escluso.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QUALITÀ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Test e riproducibilità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La suite automatica non richiede LM Studio; la valutazione sì.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57600" cy="64008"/>
          </a:xfrm>
          <a:prstGeom prst="rect">
            <a:avLst/>
          </a:prstGeom>
          <a:solidFill>
            <a:srgbClr val="4F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3255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60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3218688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ScriptedModel, nessuna rete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Grafo, HITL, privacy, memoria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Policy, corpus, ledger, scenari</a:t>
            </a:r>
          </a:p>
          <a:p>
            <a:pPr algn="l" marL="219456" indent="-219456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52525"/>
                </a:solidFill>
                <a:latin typeface="Calibri"/>
              </a:rPr>
              <a:t>Dati isolati per ogni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71597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7830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2C20"/>
                </a:solidFill>
                <a:latin typeface="Calibri"/>
              </a:rPr>
              <a:t>Comandi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94560"/>
            <a:ext cx="6720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Consolas"/>
              </a:rPr>
              <a:t>python -m pytest -q tests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Consolas"/>
              </a:rPr>
              <a:t>python eval/run_eval.py --backend local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Consolas"/>
              </a:rPr>
              <a:t>streamlit run app.py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Consolas"/>
              </a:rPr>
              <a:t>python cli.py --customer C-001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B5B5B"/>
                </a:solidFill>
                <a:latin typeface="Consolas"/>
              </a:rPr>
              <a:t>LM Studio: lms load lfm3-1.7b@q4_k_m --gpu max --context-length 8192 --yes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B5B5B"/>
                </a:solidFill>
                <a:latin typeface="Consolas"/>
              </a:rPr>
              <a:t>Reset demo: python scripts/reset_demo.py · risultati in eval/results/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89B5A"/>
                </a:solidFill>
                <a:latin typeface="Calibri"/>
              </a:rPr>
              <a:t>CHIUSURA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3D2C20"/>
                </a:solidFill>
                <a:latin typeface="Calibri"/>
              </a:rPr>
              <a:t>Limiti e conclusione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40080" cy="41148"/>
          </a:xfrm>
          <a:prstGeom prst="rect">
            <a:avLst/>
          </a:prstGeom>
          <a:solidFill>
            <a:srgbClr val="C8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B5B5B"/>
                </a:solidFill>
                <a:latin typeface="Calibri"/>
              </a:rPr>
              <a:t>Un prototipo misurato, non una garanzia di produzione.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858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9456" indent="-219456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>
                <a:solidFill>
                  <a:srgbClr val="252525"/>
                </a:solidFill>
                <a:latin typeface="Calibri"/>
              </a:rPr>
              <a:t>Modelli piccoli: possono sbagliare tool o riformulare i numeri; la valutazione lo mostra.</a:t>
            </a:r>
          </a:p>
          <a:p>
            <a:pPr algn="l" marL="219456" indent="-219456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>
                <a:solidFill>
                  <a:srgbClr val="252525"/>
                </a:solidFill>
                <a:latin typeface="Calibri"/>
              </a:rPr>
              <a:t>Un tool per turno: una richiesta che ne richiede due viene gestita al turno successivo.</a:t>
            </a:r>
          </a:p>
          <a:p>
            <a:pPr algn="l" marL="219456" indent="-219456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>
                <a:solidFill>
                  <a:srgbClr val="252525"/>
                </a:solidFill>
                <a:latin typeface="Calibri"/>
              </a:rPr>
              <a:t>BM25: adatto a dieci documenti brevi, non a un corpus grande.</a:t>
            </a:r>
          </a:p>
          <a:p>
            <a:pPr algn="l" marL="219456" indent="-219456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>
                <a:solidFill>
                  <a:srgbClr val="252525"/>
                </a:solidFill>
                <a:latin typeface="Calibri"/>
              </a:rPr>
              <a:t>Memoria di sessione: InMemorySaver perde lo stato al riavvio.</a:t>
            </a:r>
          </a:p>
          <a:p>
            <a:pPr algn="l" marL="219456" indent="-219456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>
                <a:solidFill>
                  <a:srgbClr val="252525"/>
                </a:solidFill>
                <a:latin typeface="Calibri"/>
              </a:rPr>
              <a:t>Gemini: backend presente, run completa non disponibile per quota.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913632" cy="3108960"/>
          </a:xfrm>
          <a:prstGeom prst="roundRect">
            <a:avLst>
              <a:gd name="adj" fmla="val 8000"/>
            </a:avLst>
          </a:prstGeom>
          <a:solidFill>
            <a:srgbClr val="F3E9DF"/>
          </a:solidFill>
          <a:ln w="12700">
            <a:solidFill>
              <a:srgbClr val="C89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2C20"/>
                </a:solidFill>
                <a:latin typeface="Calibri"/>
              </a:rPr>
              <a:t>Il punto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331720"/>
            <a:ext cx="34290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5B5B5B"/>
                </a:solidFill>
                <a:latin typeface="Calibri"/>
              </a:rPr>
              <a:t>Il grafo è piccolo abbastanza da essere letto in un minuto, ma il comportamento non è simulato. L'LLM sceglie davvero, scrive davvero e sbaglia quando il modello sbaglia. La differenza è che gli errori sono visibili, non nascosti da un fallback.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4429"/>
                </a:solidFill>
                <a:latin typeface="Calibri"/>
              </a:rPr>
              <a:t>31/31 su 31 scenari controllati, con modello locale e dati sintetici: una misura, non una promessa.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E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Casa &amp; Regali · assistente clienti ·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92240"/>
            <a:ext cx="1764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B5B5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